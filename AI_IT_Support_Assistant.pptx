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1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2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114800" cy="41148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22960"/>
            <a:ext cx="777240" cy="777240"/>
          </a:xfrm>
          <a:prstGeom prst="ellipse">
            <a:avLst/>
          </a:prstGeom>
          <a:solidFill>
            <a:srgbClr val="D98324"/>
          </a:solidFill>
          <a:ln/>
        </p:spPr>
      </p:sp>
      <p:pic>
        <p:nvPicPr>
          <p:cNvPr id="5" name="Image 0" descr="icons/tool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839" y="997839"/>
            <a:ext cx="427482" cy="427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CAPSTONE PROJECT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4688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IT Support Assistant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22960" y="356616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workflow that understands an IT request, decides which tool it</a:t>
            </a:r>
            <a:endParaRPr lang="en-US" sz="16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needs, executes it against real data, and responds — built with LangGraph,</a:t>
            </a:r>
            <a:endParaRPr lang="en-US" sz="16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OpenRouter, and Streamlit.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4892040"/>
            <a:ext cx="2926080" cy="0"/>
          </a:xfrm>
          <a:prstGeom prst="line">
            <a:avLst/>
          </a:prstGeom>
          <a:noFill/>
          <a:ln w="25400">
            <a:solidFill>
              <a:srgbClr val="D9832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074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</a:t>
            </a:r>
            <a:pPr algn="l"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pPr algn="l"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Routing</a:t>
            </a:r>
            <a:pPr algn="l" indent="0" marL="0">
              <a:buNone/>
            </a:pPr>
            <a:r>
              <a:rPr lang="en-US" sz="13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2960" y="6172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for Evaluation  |  September 2026</a:t>
            </a:r>
            <a:endParaRPr lang="en-US" sz="1100" dirty="0"/>
          </a:p>
        </p:txBody>
      </p:sp>
      <p:sp>
        <p:nvSpPr>
          <p:cNvPr id="12" name="TextBox 11"/>
          <p:cNvSpPr txBox="1"/>
          <p:nvPr/>
        </p:nvSpPr>
        <p:spPr>
          <a:xfrm>
            <a:off x="822960" y="56235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Presented by Rajat Singodia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scripted or keyword-based bot isn't enough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at a fictional organization raise repetitive IT requests — password resets, laptop issues, connectivity problems — through email or a rigid ticketing form. Handling these manually is slow, and keyword-matching bots misclassify anything phrased even slightly differently.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971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icons/ch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309524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7033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Free-form requests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31520" y="4142232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describe issues in their own words, not fixed menu options.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10712" y="269748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971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icons/brai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756" y="309524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93592" y="37033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smart routing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593592" y="4142232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can't tell a “how do I…” question apart from a “this is broken” report.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72784" y="269748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01384" y="2971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icons/ba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828" y="3095244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55664" y="37033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bad data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55664" y="4142232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or naive bots can invent details or create duplicate tickets.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134856" y="2697480"/>
            <a:ext cx="26060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63456" y="2971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icons/user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0" y="3095244"/>
            <a:ext cx="301752" cy="30175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17736" y="37033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context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317736" y="4142232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ID or issue details typed once get forgotten the next message.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IT Support Assistant  |  Agentic AI Capstone Project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LangGraph workflow with four tools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 is a LangGraph state machine. An LLM call (via OpenRouter) classifies the user's intent and extracts only what they explicitly stated, the graph routes to the right tool, and a second LLM call phrases the tool's raw result into a friendly reply — never inventing facts along the way.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611880"/>
            <a:ext cx="310896" cy="310896"/>
          </a:xfrm>
          <a:prstGeom prst="ellipse">
            <a:avLst/>
          </a:prstGeom>
          <a:solidFill>
            <a:srgbClr val="D98324"/>
          </a:solidFill>
          <a:ln/>
        </p:spPr>
      </p:sp>
      <p:pic>
        <p:nvPicPr>
          <p:cNvPr id="6" name="Image 0" descr="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3674059"/>
            <a:ext cx="186538" cy="1865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5661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free-form natural language requests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4142232"/>
            <a:ext cx="310896" cy="310896"/>
          </a:xfrm>
          <a:prstGeom prst="ellipse">
            <a:avLst/>
          </a:prstGeom>
          <a:solidFill>
            <a:srgbClr val="D98324"/>
          </a:solidFill>
          <a:ln/>
        </p:spPr>
      </p:sp>
      <p:pic>
        <p:nvPicPr>
          <p:cNvPr id="9" name="Image 1" descr="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19" y="4204411"/>
            <a:ext cx="186538" cy="18653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409651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which tool is required, with no hard-coded keyword rules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4672584"/>
            <a:ext cx="310896" cy="310896"/>
          </a:xfrm>
          <a:prstGeom prst="ellipse">
            <a:avLst/>
          </a:prstGeom>
          <a:solidFill>
            <a:srgbClr val="D98324"/>
          </a:solidFill>
          <a:ln/>
        </p:spPr>
      </p:sp>
      <p:pic>
        <p:nvPicPr>
          <p:cNvPr id="12" name="Image 2" descr="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" y="4734763"/>
            <a:ext cx="186538" cy="18653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05840" y="4626864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for missing information instead of guessing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548640" y="5202936"/>
            <a:ext cx="310896" cy="310896"/>
          </a:xfrm>
          <a:prstGeom prst="ellipse">
            <a:avLst/>
          </a:prstGeom>
          <a:solidFill>
            <a:srgbClr val="D98324"/>
          </a:solidFill>
          <a:ln/>
        </p:spPr>
      </p:sp>
      <p:pic>
        <p:nvPicPr>
          <p:cNvPr id="15" name="Image 3" descr="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" y="5265115"/>
            <a:ext cx="186538" cy="18653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05840" y="515721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context (employee ID, draft ticket) across turns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6492240" y="160020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6693408" y="1819656"/>
            <a:ext cx="502920" cy="502920"/>
          </a:xfrm>
          <a:prstGeom prst="ellipse">
            <a:avLst/>
          </a:prstGeom>
          <a:solidFill>
            <a:srgbClr val="D98324"/>
          </a:solidFill>
          <a:ln/>
        </p:spPr>
      </p:sp>
      <p:pic>
        <p:nvPicPr>
          <p:cNvPr id="19" name="Image 4" descr="icons/search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6565" y="1932813"/>
            <a:ext cx="276606" cy="27660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675120" y="2468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Search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6675120" y="28346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how-to articles in the local KB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9326880" y="160020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9528048" y="181965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5" descr="icons/ticke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1205" y="1932813"/>
            <a:ext cx="276606" cy="27660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509760" y="2468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Lookup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9509760" y="283464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status of an existing ticket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6492240" y="397764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6693408" y="419709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9" name="Image 6" descr="icons/plusCircle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6565" y="4310253"/>
            <a:ext cx="276606" cy="276606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675120" y="4846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Creation</a:t>
            </a:r>
            <a:endParaRPr lang="en-US" sz="1300" dirty="0"/>
          </a:p>
        </p:txBody>
      </p:sp>
      <p:sp>
        <p:nvSpPr>
          <p:cNvPr id="31" name="Text 22"/>
          <p:cNvSpPr/>
          <p:nvPr/>
        </p:nvSpPr>
        <p:spPr>
          <a:xfrm>
            <a:off x="6675120" y="52120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a new ticket, validated first</a:t>
            </a:r>
            <a:endParaRPr lang="en-US" sz="1050" dirty="0"/>
          </a:p>
        </p:txBody>
      </p:sp>
      <p:sp>
        <p:nvSpPr>
          <p:cNvPr id="32" name="Shape 23"/>
          <p:cNvSpPr/>
          <p:nvPr/>
        </p:nvSpPr>
        <p:spPr>
          <a:xfrm>
            <a:off x="9326880" y="397764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9528048" y="419709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4" name="Image 7" descr="icons/server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41205" y="4310253"/>
            <a:ext cx="276606" cy="276606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9509760" y="4846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Status</a:t>
            </a:r>
            <a:endParaRPr lang="en-US" sz="1300" dirty="0"/>
          </a:p>
        </p:txBody>
      </p:sp>
      <p:sp>
        <p:nvSpPr>
          <p:cNvPr id="36" name="Text 26"/>
          <p:cNvSpPr/>
          <p:nvPr/>
        </p:nvSpPr>
        <p:spPr>
          <a:xfrm>
            <a:off x="9509760" y="521208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live status of internal systems</a:t>
            </a:r>
            <a:endParaRPr lang="en-US" sz="1050" dirty="0"/>
          </a:p>
        </p:txBody>
      </p:sp>
      <p:sp>
        <p:nvSpPr>
          <p:cNvPr id="37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IT Support Assistant  |  Agentic AI Capstone Project</a:t>
            </a:r>
            <a:endParaRPr lang="en-US" sz="900" dirty="0"/>
          </a:p>
        </p:txBody>
      </p:sp>
      <p:sp>
        <p:nvSpPr>
          <p:cNvPr id="38" name="Text 2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Diagram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workflow: state, nodes, conditional edges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362956" y="1417320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 w="12700">
            <a:solidFill>
              <a:srgbClr val="B9C7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08676" y="1417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094476" y="1783080"/>
            <a:ext cx="0" cy="155448"/>
          </a:xfrm>
          <a:prstGeom prst="line">
            <a:avLst/>
          </a:prstGeom>
          <a:noFill/>
          <a:ln w="17780">
            <a:solidFill>
              <a:srgbClr val="8891C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042916" y="1938528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EEF3FC"/>
          </a:solidFill>
          <a:ln w="12700">
            <a:solidFill>
              <a:srgbClr val="B9C7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88636" y="193852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entry_router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94476" y="2322576"/>
            <a:ext cx="0" cy="219456"/>
          </a:xfrm>
          <a:prstGeom prst="line">
            <a:avLst/>
          </a:prstGeom>
          <a:noFill/>
          <a:ln w="17780">
            <a:solidFill>
              <a:srgbClr val="8891C4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3291840" y="2542032"/>
            <a:ext cx="5715000" cy="0"/>
          </a:xfrm>
          <a:prstGeom prst="line">
            <a:avLst/>
          </a:prstGeom>
          <a:noFill/>
          <a:ln w="17780">
            <a:solidFill>
              <a:srgbClr val="8891C4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291840" y="2542032"/>
            <a:ext cx="0" cy="18288"/>
          </a:xfrm>
          <a:prstGeom prst="line">
            <a:avLst/>
          </a:prstGeom>
          <a:noFill/>
          <a:ln w="17780">
            <a:solidFill>
              <a:srgbClr val="8891C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006840" y="2542032"/>
            <a:ext cx="0" cy="18288"/>
          </a:xfrm>
          <a:prstGeom prst="line">
            <a:avLst/>
          </a:prstGeom>
          <a:noFill/>
          <a:ln w="17780">
            <a:solidFill>
              <a:srgbClr val="8891C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377440" y="2560320"/>
            <a:ext cx="182880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B9C7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260604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fill_slot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423160" y="2852928"/>
            <a:ext cx="1737360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resume, no LLM call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955280" y="2560320"/>
            <a:ext cx="210312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B9C7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01000" y="26060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classify_intent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001000" y="2852928"/>
            <a:ext cx="2011680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tool-call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291840" y="2980944"/>
            <a:ext cx="0" cy="201168"/>
          </a:xfrm>
          <a:prstGeom prst="line">
            <a:avLst/>
          </a:prstGeom>
          <a:noFill/>
          <a:ln w="17780">
            <a:solidFill>
              <a:srgbClr val="8891C4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006840" y="2980944"/>
            <a:ext cx="0" cy="201168"/>
          </a:xfrm>
          <a:prstGeom prst="line">
            <a:avLst/>
          </a:prstGeom>
          <a:noFill/>
          <a:ln w="17780">
            <a:solidFill>
              <a:srgbClr val="8891C4"/>
            </a:solidFill>
            <a:prstDash val="solid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3291840" y="3182112"/>
            <a:ext cx="5715000" cy="0"/>
          </a:xfrm>
          <a:prstGeom prst="line">
            <a:avLst/>
          </a:prstGeom>
          <a:noFill/>
          <a:ln w="17780">
            <a:solidFill>
              <a:srgbClr val="8891C4"/>
            </a:solidFill>
            <a:prstDash val="solid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6094476" y="3182112"/>
            <a:ext cx="0" cy="18288"/>
          </a:xfrm>
          <a:prstGeom prst="line">
            <a:avLst/>
          </a:prstGeom>
          <a:noFill/>
          <a:ln w="17780">
            <a:solidFill>
              <a:srgbClr val="8891C4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385816" y="3200400"/>
            <a:ext cx="1417320" cy="530352"/>
          </a:xfrm>
          <a:prstGeom prst="diamond">
            <a:avLst/>
          </a:prstGeom>
          <a:solidFill>
            <a:srgbClr val="D98324"/>
          </a:solidFill>
          <a:ln/>
        </p:spPr>
      </p:sp>
      <p:sp>
        <p:nvSpPr>
          <p:cNvPr id="24" name="Text 22"/>
          <p:cNvSpPr/>
          <p:nvPr/>
        </p:nvSpPr>
        <p:spPr>
          <a:xfrm>
            <a:off x="5088636" y="29077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route_by_intent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094476" y="3730752"/>
            <a:ext cx="0" cy="219456"/>
          </a:xfrm>
          <a:prstGeom prst="line">
            <a:avLst/>
          </a:prstGeom>
          <a:noFill/>
          <a:ln w="17780">
            <a:solidFill>
              <a:srgbClr val="8891C4"/>
            </a:solidFill>
            <a:prstDash val="solid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2212848" y="3950208"/>
            <a:ext cx="7763256" cy="0"/>
          </a:xfrm>
          <a:prstGeom prst="line">
            <a:avLst/>
          </a:prstGeom>
          <a:noFill/>
          <a:ln w="17780">
            <a:solidFill>
              <a:srgbClr val="8891C4"/>
            </a:solidFill>
            <a:prstDash val="solid"/>
            <a:tailEnd type="none"/>
          </a:ln>
        </p:spPr>
      </p:sp>
      <p:sp>
        <p:nvSpPr>
          <p:cNvPr id="27" name="Shape 25"/>
          <p:cNvSpPr/>
          <p:nvPr/>
        </p:nvSpPr>
        <p:spPr>
          <a:xfrm flipV="1">
            <a:off x="2212848" y="3886200"/>
            <a:ext cx="0" cy="64008"/>
          </a:xfrm>
          <a:prstGeom prst="line">
            <a:avLst/>
          </a:prstGeom>
          <a:noFill/>
          <a:ln w="17780">
            <a:solidFill>
              <a:srgbClr val="8891C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V="1">
            <a:off x="4800600" y="3886200"/>
            <a:ext cx="0" cy="64008"/>
          </a:xfrm>
          <a:prstGeom prst="line">
            <a:avLst/>
          </a:prstGeom>
          <a:noFill/>
          <a:ln w="17780">
            <a:solidFill>
              <a:srgbClr val="8891C4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V="1">
            <a:off x="7388352" y="3886200"/>
            <a:ext cx="0" cy="64008"/>
          </a:xfrm>
          <a:prstGeom prst="line">
            <a:avLst/>
          </a:prstGeom>
          <a:noFill/>
          <a:ln w="17780">
            <a:solidFill>
              <a:srgbClr val="8891C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V="1">
            <a:off x="9976104" y="3886200"/>
            <a:ext cx="0" cy="64008"/>
          </a:xfrm>
          <a:prstGeom prst="line">
            <a:avLst/>
          </a:prstGeom>
          <a:noFill/>
          <a:ln w="17780">
            <a:solidFill>
              <a:srgbClr val="8891C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046988" y="388620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B9C7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92708" y="3886200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knowledge_search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34740" y="388620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B9C7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80460" y="3886200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ticket_lookup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22492" y="388620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B9C7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8212" y="3886200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ticket_creation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810244" y="388620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B9C7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855964" y="3886200"/>
            <a:ext cx="2240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system_status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212848" y="4288536"/>
            <a:ext cx="0" cy="219456"/>
          </a:xfrm>
          <a:prstGeom prst="line">
            <a:avLst/>
          </a:prstGeom>
          <a:noFill/>
          <a:ln w="17780">
            <a:solidFill>
              <a:srgbClr val="8891C4"/>
            </a:solidFill>
            <a:prstDash val="solid"/>
            <a:tailEnd type="none"/>
          </a:ln>
        </p:spPr>
      </p:sp>
      <p:sp>
        <p:nvSpPr>
          <p:cNvPr id="40" name="Shape 38"/>
          <p:cNvSpPr/>
          <p:nvPr/>
        </p:nvSpPr>
        <p:spPr>
          <a:xfrm>
            <a:off x="4800600" y="4288536"/>
            <a:ext cx="0" cy="219456"/>
          </a:xfrm>
          <a:prstGeom prst="line">
            <a:avLst/>
          </a:prstGeom>
          <a:noFill/>
          <a:ln w="17780">
            <a:solidFill>
              <a:srgbClr val="8891C4"/>
            </a:solidFill>
            <a:prstDash val="solid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7388352" y="4288536"/>
            <a:ext cx="0" cy="219456"/>
          </a:xfrm>
          <a:prstGeom prst="line">
            <a:avLst/>
          </a:prstGeom>
          <a:noFill/>
          <a:ln w="17780">
            <a:solidFill>
              <a:srgbClr val="8891C4"/>
            </a:solidFill>
            <a:prstDash val="solid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9976104" y="4288536"/>
            <a:ext cx="0" cy="219456"/>
          </a:xfrm>
          <a:prstGeom prst="line">
            <a:avLst/>
          </a:prstGeom>
          <a:noFill/>
          <a:ln w="17780">
            <a:solidFill>
              <a:srgbClr val="8891C4"/>
            </a:solidFill>
            <a:prstDash val="solid"/>
            <a:tailEnd type="none"/>
          </a:ln>
        </p:spPr>
      </p:sp>
      <p:sp>
        <p:nvSpPr>
          <p:cNvPr id="43" name="Shape 41"/>
          <p:cNvSpPr/>
          <p:nvPr/>
        </p:nvSpPr>
        <p:spPr>
          <a:xfrm>
            <a:off x="2212848" y="4507992"/>
            <a:ext cx="7763256" cy="0"/>
          </a:xfrm>
          <a:prstGeom prst="line">
            <a:avLst/>
          </a:prstGeom>
          <a:noFill/>
          <a:ln w="17780">
            <a:solidFill>
              <a:srgbClr val="8891C4"/>
            </a:solidFill>
            <a:prstDash val="solid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6094476" y="4507992"/>
            <a:ext cx="0" cy="45720"/>
          </a:xfrm>
          <a:prstGeom prst="line">
            <a:avLst/>
          </a:prstGeom>
          <a:noFill/>
          <a:ln w="17780">
            <a:solidFill>
              <a:srgbClr val="8891C4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5317236" y="4553712"/>
            <a:ext cx="1554480" cy="530352"/>
          </a:xfrm>
          <a:prstGeom prst="diamond">
            <a:avLst/>
          </a:prstGeom>
          <a:solidFill>
            <a:srgbClr val="D98324"/>
          </a:solidFill>
          <a:ln/>
        </p:spPr>
      </p:sp>
      <p:sp>
        <p:nvSpPr>
          <p:cNvPr id="46" name="Text 44"/>
          <p:cNvSpPr/>
          <p:nvPr/>
        </p:nvSpPr>
        <p:spPr>
          <a:xfrm>
            <a:off x="5088636" y="426110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needs_clarification?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094476" y="5084064"/>
            <a:ext cx="0" cy="219456"/>
          </a:xfrm>
          <a:prstGeom prst="line">
            <a:avLst/>
          </a:prstGeom>
          <a:noFill/>
          <a:ln w="17780">
            <a:solidFill>
              <a:srgbClr val="8891C4"/>
            </a:solidFill>
            <a:prstDash val="solid"/>
            <a:tailEnd type="none"/>
          </a:ln>
        </p:spPr>
      </p:sp>
      <p:sp>
        <p:nvSpPr>
          <p:cNvPr id="48" name="Shape 46"/>
          <p:cNvSpPr/>
          <p:nvPr/>
        </p:nvSpPr>
        <p:spPr>
          <a:xfrm>
            <a:off x="3154680" y="5303520"/>
            <a:ext cx="6126480" cy="0"/>
          </a:xfrm>
          <a:prstGeom prst="line">
            <a:avLst/>
          </a:prstGeom>
          <a:noFill/>
          <a:ln w="17780">
            <a:solidFill>
              <a:srgbClr val="8891C4"/>
            </a:solidFill>
            <a:prstDash val="solid"/>
            <a:tailEnd type="none"/>
          </a:ln>
        </p:spPr>
      </p:sp>
      <p:sp>
        <p:nvSpPr>
          <p:cNvPr id="49" name="Shape 47"/>
          <p:cNvSpPr/>
          <p:nvPr/>
        </p:nvSpPr>
        <p:spPr>
          <a:xfrm flipV="1">
            <a:off x="3154680" y="5212080"/>
            <a:ext cx="0" cy="91440"/>
          </a:xfrm>
          <a:prstGeom prst="line">
            <a:avLst/>
          </a:prstGeom>
          <a:noFill/>
          <a:ln w="17780">
            <a:solidFill>
              <a:srgbClr val="8891C4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 flipV="1">
            <a:off x="9281160" y="5212080"/>
            <a:ext cx="0" cy="91440"/>
          </a:xfrm>
          <a:prstGeom prst="line">
            <a:avLst/>
          </a:prstGeom>
          <a:noFill/>
          <a:ln w="17780">
            <a:solidFill>
              <a:srgbClr val="8891C4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2103120" y="5212080"/>
            <a:ext cx="2103120" cy="402336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 w="12700">
            <a:solidFill>
              <a:srgbClr val="B9C7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148840" y="52578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2148840" y="5504688"/>
            <a:ext cx="2011680" cy="73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AEB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clarifying question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8138160" y="5212080"/>
            <a:ext cx="2286000" cy="402336"/>
          </a:xfrm>
          <a:prstGeom prst="roundRect">
            <a:avLst>
              <a:gd name="adj" fmla="val 13636"/>
            </a:avLst>
          </a:prstGeom>
          <a:solidFill>
            <a:srgbClr val="D98324"/>
          </a:solidFill>
          <a:ln w="12700">
            <a:solidFill>
              <a:srgbClr val="B9C7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183880" y="52578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generate_response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8183880" y="5504688"/>
            <a:ext cx="2194560" cy="73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3A2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phrases result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9281160" y="5614416"/>
            <a:ext cx="0" cy="219456"/>
          </a:xfrm>
          <a:prstGeom prst="line">
            <a:avLst/>
          </a:prstGeom>
          <a:noFill/>
          <a:ln w="17780">
            <a:solidFill>
              <a:srgbClr val="8891C4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8229600" y="5833872"/>
            <a:ext cx="210312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 w="12700">
            <a:solidFill>
              <a:srgbClr val="B9C7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275320" y="58795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8275320" y="6126480"/>
            <a:ext cx="2011680" cy="54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AEB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IT Support Assistant  |  Agentic AI Capstone Project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needed runs locally except the LLM call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s/pyth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231" y="2075231"/>
            <a:ext cx="311810" cy="3118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4767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" y="2651760"/>
            <a:ext cx="30083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application language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97680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3712" y="194767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icons/sitema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271" y="2075231"/>
            <a:ext cx="311810" cy="3118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194767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53712" y="2651760"/>
            <a:ext cx="30083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nodes, conditional routing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46720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02752" y="194767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icons/rout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311" y="2075231"/>
            <a:ext cx="311810" cy="3118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52560" y="194767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API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02752" y="2651760"/>
            <a:ext cx="30083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key, swappable LLM (tool calling + text)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418795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icons/layerGroup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231" y="4315511"/>
            <a:ext cx="311810" cy="31181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418795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04672" y="4892040"/>
            <a:ext cx="30083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UI, session state, debug panel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97680" y="39319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53712" y="418795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icons/databas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271" y="4315511"/>
            <a:ext cx="311810" cy="31181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03520" y="418795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JSON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53712" y="4892040"/>
            <a:ext cx="30083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Employees, tickets, KB, system status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46720" y="39319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02752" y="418795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icons/fileCode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0311" y="4315511"/>
            <a:ext cx="311810" cy="31181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52560" y="418795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02752" y="4892040"/>
            <a:ext cx="300837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 / secret loading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IT Support Assistant  |  Agentic AI Capstone Project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Structure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by responsibility — graph, tools, data, and UI stay separate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760720" cy="4572000"/>
          </a:xfrm>
          <a:prstGeom prst="roundRect">
            <a:avLst>
              <a:gd name="adj" fmla="val 1600"/>
            </a:avLst>
          </a:prstGeom>
          <a:solidFill>
            <a:srgbClr val="141B4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5257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ai-it-support-assistant/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app.py                  Streamlit chat UI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agent/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state.py            Shared AgentState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graph.py            Nodes + conditional edges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tools.py            The 4 tools (pure functions)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llm_client.py       OpenRouter API wrapper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db.py               Local JSON data access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data/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employees.json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tickets.json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knowledge_base.json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system_status.json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requirements.txt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.env.example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.gitignore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README.md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629400" y="1600200"/>
            <a:ext cx="457200" cy="457200"/>
          </a:xfrm>
          <a:prstGeom prst="ellipse">
            <a:avLst/>
          </a:prstGeom>
          <a:solidFill>
            <a:srgbClr val="D98324"/>
          </a:solidFill>
          <a:ln/>
        </p:spPr>
      </p:sp>
      <p:pic>
        <p:nvPicPr>
          <p:cNvPr id="7" name="Image 0" descr="icons/layerGrou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2270" y="170307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223760" y="157276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223760" y="1892808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graph.py orchestrates; tools.py never imports LangGraph or the LLM client.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629400" y="2679192"/>
            <a:ext cx="457200" cy="457200"/>
          </a:xfrm>
          <a:prstGeom prst="ellipse">
            <a:avLst/>
          </a:prstGeom>
          <a:solidFill>
            <a:srgbClr val="D98324"/>
          </a:solidFill>
          <a:ln/>
        </p:spPr>
      </p:sp>
      <p:pic>
        <p:nvPicPr>
          <p:cNvPr id="11" name="Image 1" descr="icons/cod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2270" y="2782062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6517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hard-coded values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7223760" y="297180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name, API key, and paths all come from environment variables.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629400" y="3758184"/>
            <a:ext cx="457200" cy="457200"/>
          </a:xfrm>
          <a:prstGeom prst="ellipse">
            <a:avLst/>
          </a:prstGeom>
          <a:solidFill>
            <a:srgbClr val="D98324"/>
          </a:solidFill>
          <a:ln/>
        </p:spPr>
      </p:sp>
      <p:pic>
        <p:nvPicPr>
          <p:cNvPr id="15" name="Image 2" descr="icons/databa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2270" y="3861054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223760" y="373075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db.py isolates file I/O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7223760" y="4050792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Swapping JSON for SQLite later means changing one module, not the app.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629400" y="4837176"/>
            <a:ext cx="457200" cy="457200"/>
          </a:xfrm>
          <a:prstGeom prst="ellipse">
            <a:avLst/>
          </a:prstGeom>
          <a:solidFill>
            <a:srgbClr val="D98324"/>
          </a:solidFill>
          <a:ln/>
        </p:spPr>
      </p:sp>
      <p:pic>
        <p:nvPicPr>
          <p:cNvPr id="19" name="Image 3" descr="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2270" y="4940046"/>
            <a:ext cx="251460" cy="2514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223760" y="4809744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 in isolation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7223760" y="5129784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functions take plain params and return plain dicts — unit-testable without the graph or a live API key.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IT Support Assistant  |  Agentic AI Capstone Project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Design Decisions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Choices that make the agent reliable, not just functional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773936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s/bra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793" y="188092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719072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tool-calling for routing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371600" y="2029968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forced function call (route_request) returns strict JSON — far more reliable than asking the LLM to “reply in JSON”.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63640" y="1572768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64808" y="1773936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icons/ba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1793" y="188092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1719072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never invents ticket data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7086600" y="2029968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fields are returned as null and re-validated in code before create_ticket() is ever called.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48640" y="3191256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9808" y="339242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icons/cha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93" y="3499409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33756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State-driven slot filling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371600" y="3648456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awaiting_field / ticket_draft persist in state, so fill_slot resumes a ticket without even calling the LLM.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263640" y="3191256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64808" y="339242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icons/clipboard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1793" y="3499409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333756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prevention in the tool layer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086600" y="3648456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create_ticket() always checks for an open ticket in the same category first — can't be bypassed by rephrasing.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48640" y="4809744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49808" y="5010912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icons/rout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793" y="5117897"/>
            <a:ext cx="261518" cy="26151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71600" y="495604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LLM usage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1371600" y="5266944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 decides what to do; a second decides how to phrase it. Decision-making and voice stay independently testable.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263640" y="4809744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464808" y="5010912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icons/shield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1793" y="5117897"/>
            <a:ext cx="261518" cy="26151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86600" y="4956048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fallback responses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7086600" y="5266944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phrasing call fails, a template-based reply keeps the app usable instead of crashing.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IT Support Assistant  |  Agentic AI Capstone Project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&amp; Validation Guardrails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never blindly executes an action — per the assignment's core requirement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141B4D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D98324"/>
          </a:solidFill>
          <a:ln/>
        </p:spPr>
      </p:sp>
      <p:pic>
        <p:nvPicPr>
          <p:cNvPr id="6" name="Image 0" descr="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397" y="203339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560320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before creating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953512"/>
            <a:ext cx="31181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employee_id, category, and description are all confirmed present before create_ticket() runs.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97680" y="169164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141B4D"/>
          </a:solidFill>
          <a:ln/>
        </p:spPr>
      </p:sp>
      <p:sp>
        <p:nvSpPr>
          <p:cNvPr id="10" name="Shape 7"/>
          <p:cNvSpPr/>
          <p:nvPr/>
        </p:nvSpPr>
        <p:spPr>
          <a:xfrm>
            <a:off x="4526280" y="1920240"/>
            <a:ext cx="502920" cy="502920"/>
          </a:xfrm>
          <a:prstGeom prst="ellipse">
            <a:avLst/>
          </a:prstGeom>
          <a:solidFill>
            <a:srgbClr val="D98324"/>
          </a:solidFill>
          <a:ln/>
        </p:spPr>
      </p:sp>
      <p:pic>
        <p:nvPicPr>
          <p:cNvPr id="11" name="Image 1" descr="icons/ba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9437" y="2033397"/>
            <a:ext cx="276606" cy="2766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98848" y="2560320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tickets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498848" y="2953512"/>
            <a:ext cx="31181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existing open ticket in the same category is returned instead of creating a new one.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046720" y="169164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141B4D"/>
          </a:solidFill>
          <a:ln/>
        </p:spPr>
      </p:sp>
      <p:sp>
        <p:nvSpPr>
          <p:cNvPr id="15" name="Shape 11"/>
          <p:cNvSpPr/>
          <p:nvPr/>
        </p:nvSpPr>
        <p:spPr>
          <a:xfrm>
            <a:off x="8275320" y="1920240"/>
            <a:ext cx="502920" cy="502920"/>
          </a:xfrm>
          <a:prstGeom prst="ellipse">
            <a:avLst/>
          </a:prstGeom>
          <a:solidFill>
            <a:srgbClr val="D98324"/>
          </a:solidFill>
          <a:ln/>
        </p:spPr>
      </p:sp>
      <p:pic>
        <p:nvPicPr>
          <p:cNvPr id="16" name="Image 2" descr="icons/cha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8477" y="2033397"/>
            <a:ext cx="276606" cy="2766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47888" y="2560320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Communicates missing info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247888" y="2953512"/>
            <a:ext cx="31181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clarifying question is asked — never a silent guess or a generic error.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420624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141B4D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4434840"/>
            <a:ext cx="502920" cy="502920"/>
          </a:xfrm>
          <a:prstGeom prst="ellipse">
            <a:avLst/>
          </a:prstGeom>
          <a:solidFill>
            <a:srgbClr val="D98324"/>
          </a:solidFill>
          <a:ln/>
        </p:spPr>
      </p:sp>
      <p:pic>
        <p:nvPicPr>
          <p:cNvPr id="21" name="Image 3" descr="icons/shiel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397" y="4547997"/>
            <a:ext cx="276606" cy="27660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" y="5074920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tool failures gracefully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49808" y="5468112"/>
            <a:ext cx="31181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employee IDs, empty search results, and API errors all return a clear message, not a crash.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297680" y="420624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141B4D"/>
          </a:solidFill>
          <a:ln/>
        </p:spPr>
      </p:sp>
      <p:sp>
        <p:nvSpPr>
          <p:cNvPr id="25" name="Shape 19"/>
          <p:cNvSpPr/>
          <p:nvPr/>
        </p:nvSpPr>
        <p:spPr>
          <a:xfrm>
            <a:off x="4526280" y="4434840"/>
            <a:ext cx="502920" cy="502920"/>
          </a:xfrm>
          <a:prstGeom prst="ellipse">
            <a:avLst/>
          </a:prstGeom>
          <a:solidFill>
            <a:srgbClr val="D98324"/>
          </a:solidFill>
          <a:ln/>
        </p:spPr>
      </p:sp>
      <p:pic>
        <p:nvPicPr>
          <p:cNvPr id="26" name="Image 4" descr="icons/ba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9437" y="4547997"/>
            <a:ext cx="276606" cy="27660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98848" y="5074920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invents data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498848" y="5468112"/>
            <a:ext cx="31181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classifier extracts only what the user stated; nulls are treated as missing, never filled in.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046720" y="420624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141B4D"/>
          </a:solidFill>
          <a:ln/>
        </p:spPr>
      </p:sp>
      <p:sp>
        <p:nvSpPr>
          <p:cNvPr id="30" name="Shape 23"/>
          <p:cNvSpPr/>
          <p:nvPr/>
        </p:nvSpPr>
        <p:spPr>
          <a:xfrm>
            <a:off x="8275320" y="4434840"/>
            <a:ext cx="502920" cy="502920"/>
          </a:xfrm>
          <a:prstGeom prst="ellipse">
            <a:avLst/>
          </a:prstGeom>
          <a:solidFill>
            <a:srgbClr val="D98324"/>
          </a:solidFill>
          <a:ln/>
        </p:spPr>
      </p:sp>
      <p:pic>
        <p:nvPicPr>
          <p:cNvPr id="31" name="Image 5" descr="icons/clipboardChe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8477" y="4547997"/>
            <a:ext cx="276606" cy="27660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47888" y="5074920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vs. generated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247888" y="5468112"/>
            <a:ext cx="31181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results are passed to the phrasing LLM as ground truth — it is told to phrase, not to add facts.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IT Support Assistant  |  Agentic AI Capstone Project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— Intent Classification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troubleshooting, then a routed ticket-creation flow begins</a:t>
            </a:r>
            <a:endParaRPr lang="en-US" sz="1400" dirty="0"/>
          </a:p>
        </p:txBody>
      </p:sp>
      <p:pic>
        <p:nvPicPr>
          <p:cNvPr id="4" name="Image 0" descr="Screenshot_2026-09-06_115222_cropp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00200"/>
            <a:ext cx="5440680" cy="4572000"/>
          </a:xfrm>
          <a:prstGeom prst="rect">
            <a:avLst/>
          </a:prstGeom>
        </p:spPr>
      </p:pic>
      <p:pic>
        <p:nvPicPr>
          <p:cNvPr id="5" name="Image 1" descr="Screenshot_2026-09-06_115252_cropp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72200" y="1600200"/>
            <a:ext cx="5440680" cy="4572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6263640"/>
            <a:ext cx="5486400" cy="32004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7" name="Text 3"/>
          <p:cNvSpPr/>
          <p:nvPr/>
        </p:nvSpPr>
        <p:spPr>
          <a:xfrm>
            <a:off x="548640" y="6263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question → general_chat node responds directly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6172200" y="6263640"/>
            <a:ext cx="5486400" cy="320040"/>
          </a:xfrm>
          <a:prstGeom prst="roundRect">
            <a:avLst>
              <a:gd name="adj" fmla="val 14286"/>
            </a:avLst>
          </a:prstGeom>
          <a:solidFill>
            <a:srgbClr val="D98324"/>
          </a:solidFill>
          <a:ln/>
        </p:spPr>
      </p:sp>
      <p:sp>
        <p:nvSpPr>
          <p:cNvPr id="9" name="Text 5"/>
          <p:cNvSpPr/>
          <p:nvPr/>
        </p:nvSpPr>
        <p:spPr>
          <a:xfrm>
            <a:off x="6172200" y="6263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employee ID → graceful clarification, not a guess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— Ticket Creation &amp; Lookup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filling across turns, then a grounded status lookup</a:t>
            </a:r>
            <a:endParaRPr lang="en-US" sz="1400" dirty="0"/>
          </a:p>
        </p:txBody>
      </p:sp>
      <p:pic>
        <p:nvPicPr>
          <p:cNvPr id="4" name="Image 0" descr="Screenshot_2026-09-06_115311_cropp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00200"/>
            <a:ext cx="5440680" cy="4572000"/>
          </a:xfrm>
          <a:prstGeom prst="rect">
            <a:avLst/>
          </a:prstGeom>
        </p:spPr>
      </p:pic>
      <p:pic>
        <p:nvPicPr>
          <p:cNvPr id="5" name="Image 1" descr="Screenshot_2026-09-06_115326_cropp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72200" y="1600200"/>
            <a:ext cx="5440680" cy="4572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6263640"/>
            <a:ext cx="5486400" cy="32004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</p:sp>
      <p:sp>
        <p:nvSpPr>
          <p:cNvPr id="7" name="Text 3"/>
          <p:cNvSpPr/>
          <p:nvPr/>
        </p:nvSpPr>
        <p:spPr>
          <a:xfrm>
            <a:off x="548640" y="6263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verified → category → description → ticket TCK-1005 created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6172200" y="6263640"/>
            <a:ext cx="5486400" cy="320040"/>
          </a:xfrm>
          <a:prstGeom prst="roundRect">
            <a:avLst>
              <a:gd name="adj" fmla="val 14286"/>
            </a:avLst>
          </a:prstGeom>
          <a:solidFill>
            <a:srgbClr val="D98324"/>
          </a:solidFill>
          <a:ln/>
        </p:spPr>
      </p:sp>
      <p:sp>
        <p:nvSpPr>
          <p:cNvPr id="9" name="Text 5"/>
          <p:cNvSpPr/>
          <p:nvPr/>
        </p:nvSpPr>
        <p:spPr>
          <a:xfrm>
            <a:off x="6172200" y="6263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lookup returns the same ticket — grounded, not re-generated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trade-offs, made explicitly rather than hidden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3794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s/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793" y="1944929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64792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Keyword-based KB search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26280" y="1764792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overlap scoring, not embeddings — fine for a small local KB, won't scale to a large article set.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49808" y="275234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icons/user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793" y="2859329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2679192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authentication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26280" y="2679192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ID is trusted based on lookup only, mirroring a low-stakes internal tool.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52044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9808" y="366674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icons/databa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93" y="3773729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593592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Session-only persistence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4526280" y="3593592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lives in st.session_state; no LangGraph checkpointer yet, so it won't survive a server restart.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43484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49808" y="458114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icons/ticke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793" y="4688129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4507992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defaults to Medium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4526280" y="4507992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 doesn't infer urgency from issue severity unless the user states it.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49808" y="549554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icons/cha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793" y="5602529"/>
            <a:ext cx="261518" cy="26151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5422392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intent per turn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526280" y="5422392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message combining two requests (e.g. “check my ticket and raise a new one”) is handled as a single intent.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IT Support Assistant  |  Agentic AI Capstone Project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Setup, Run &amp; Repository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Runnable end-to-end with sample data — no external DB required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D98324"/>
          </a:solidFill>
          <a:ln/>
        </p:spPr>
      </p:sp>
      <p:pic>
        <p:nvPicPr>
          <p:cNvPr id="6" name="Image 0" descr="icons/githu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397" y="194195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830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Clone &amp; configure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251460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&lt;repo&gt; · python -m venv venv · pip install -r requirements.txt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92240" y="1828800"/>
            <a:ext cx="502920" cy="502920"/>
          </a:xfrm>
          <a:prstGeom prst="ellipse">
            <a:avLst/>
          </a:prstGeom>
          <a:solidFill>
            <a:srgbClr val="D98324"/>
          </a:solidFill>
          <a:ln/>
        </p:spPr>
      </p:sp>
      <p:pic>
        <p:nvPicPr>
          <p:cNvPr id="11" name="Image 1" descr="icons/terminal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397" y="1941957"/>
            <a:ext cx="276606" cy="2766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7830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Set environment variables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537960" y="251460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.env.example .env → add OPENROUTER_API_KEY (never commit .env)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48640" y="356616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3794760"/>
            <a:ext cx="502920" cy="502920"/>
          </a:xfrm>
          <a:prstGeom prst="ellipse">
            <a:avLst/>
          </a:prstGeom>
          <a:solidFill>
            <a:srgbClr val="D98324"/>
          </a:solidFill>
          <a:ln/>
        </p:spPr>
      </p:sp>
      <p:pic>
        <p:nvPicPr>
          <p:cNvPr id="16" name="Image 2" descr="icons/play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397" y="3907917"/>
            <a:ext cx="276606" cy="2766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7490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Run the app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22960" y="448056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app.py → opens at localhost:8501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263640" y="356616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92240" y="3794760"/>
            <a:ext cx="502920" cy="502920"/>
          </a:xfrm>
          <a:prstGeom prst="ellipse">
            <a:avLst/>
          </a:prstGeom>
          <a:solidFill>
            <a:srgbClr val="D98324"/>
          </a:solidFill>
          <a:ln/>
        </p:spPr>
      </p:sp>
      <p:pic>
        <p:nvPicPr>
          <p:cNvPr id="21" name="Image 3" descr="icons/databas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5397" y="3907917"/>
            <a:ext cx="276606" cy="27660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37490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Sample data included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537960" y="4480560"/>
            <a:ext cx="4892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B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employees, 4 tickets, 7 KB articles, 4 system statuses — ready to evaluate immediately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1E2761"/>
          </a:solidFill>
          <a:ln/>
        </p:spPr>
      </p:sp>
      <p:sp>
        <p:nvSpPr>
          <p:cNvPr id="25" name="Shape 19"/>
          <p:cNvSpPr/>
          <p:nvPr/>
        </p:nvSpPr>
        <p:spPr>
          <a:xfrm>
            <a:off x="777240" y="5541264"/>
            <a:ext cx="502920" cy="502920"/>
          </a:xfrm>
          <a:prstGeom prst="ellipse">
            <a:avLst/>
          </a:prstGeom>
          <a:solidFill>
            <a:srgbClr val="D98324"/>
          </a:solidFill>
          <a:ln/>
        </p:spPr>
      </p:sp>
      <p:pic>
        <p:nvPicPr>
          <p:cNvPr id="26" name="Image 4" descr="icons/shiel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397" y="5654421"/>
            <a:ext cx="276606" cy="27660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539496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includes source code, README, sample data, requirements.txt, .env.example, and this architecture diagram. .gitignore excludes .env — API keys are never committed.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IT Support Assistant  |  Agentic AI Capstone Project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06240"/>
            <a:ext cx="3840480" cy="384048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Shape 2"/>
          <p:cNvSpPr/>
          <p:nvPr/>
        </p:nvSpPr>
        <p:spPr>
          <a:xfrm>
            <a:off x="5682996" y="1828800"/>
            <a:ext cx="822960" cy="822960"/>
          </a:xfrm>
          <a:prstGeom prst="ellipse">
            <a:avLst/>
          </a:prstGeom>
          <a:solidFill>
            <a:srgbClr val="D98324"/>
          </a:solidFill>
          <a:ln/>
        </p:spPr>
      </p:sp>
      <p:pic>
        <p:nvPicPr>
          <p:cNvPr id="5" name="Image 0" descr="icons/robo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8162" y="2013966"/>
            <a:ext cx="452628" cy="452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83464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0" y="35661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Live Demonstration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IT Support Assistant  —  Built with LangGraph, OpenRouter &amp; Streamlit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2026-09-06T06:40:05Z</dcterms:created>
  <dcterms:modified xsi:type="dcterms:W3CDTF">2026-09-06T06:40:05Z</dcterms:modified>
</cp:coreProperties>
</file>